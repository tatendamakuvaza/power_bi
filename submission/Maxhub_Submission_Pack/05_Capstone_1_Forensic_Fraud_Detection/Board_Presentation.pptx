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Related-party / ghost vendors</c:v>
                </c:pt>
                <c:pt idx="1">
                  <c:v>Weekend and after-hours journals</c:v>
                </c:pt>
                <c:pt idx="2">
                  <c:v>Duplicate payments</c:v>
                </c:pt>
                <c:pt idx="3">
                  <c:v>Segregation of duties user / account matrix</c:v>
                </c:pt>
                <c:pt idx="4">
                  <c:v>Split purchases (structuring)</c:v>
                </c:pt>
                <c:pt idx="5">
                  <c:v>Approval-threshold avoidance</c:v>
                </c:pt>
                <c:pt idx="6">
                  <c:v>Unreversed accruals and prepayment amortisation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445568.39</c:v>
                </c:pt>
                <c:pt idx="1">
                  <c:v>406300.0</c:v>
                </c:pt>
                <c:pt idx="2">
                  <c:v>368023.48</c:v>
                </c:pt>
                <c:pt idx="3">
                  <c:v>279600.0</c:v>
                </c:pt>
                <c:pt idx="4">
                  <c:v>223924.68</c:v>
                </c:pt>
                <c:pt idx="5">
                  <c:v>207720.0</c:v>
                </c:pt>
                <c:pt idx="6">
                  <c:v>14400.0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Unreconciled bank items</c:v>
                </c:pt>
                <c:pt idx="1">
                  <c:v>AP invoices failing 3-way match</c:v>
                </c:pt>
                <c:pt idx="2">
                  <c:v>AP invoices with no PO</c:v>
                </c:pt>
                <c:pt idx="3">
                  <c:v>Claims without a receipt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</c:v>
                </c:pt>
                <c:pt idx="1">
                  <c:v>168</c:v>
                </c:pt>
                <c:pt idx="2">
                  <c:v>109</c:v>
                </c:pt>
                <c:pt idx="3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Unreconciled bank items</c:v>
                </c:pt>
                <c:pt idx="1">
                  <c:v>AP invoices failing 3-way match</c:v>
                </c:pt>
                <c:pt idx="2">
                  <c:v>AP invoices with no PO</c:v>
                </c:pt>
                <c:pt idx="3">
                  <c:v>Claims without a receipt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1400</c:v>
                </c:pt>
                <c:pt idx="1">
                  <c:v>520</c:v>
                </c:pt>
                <c:pt idx="2">
                  <c:v>520</c:v>
                </c:pt>
                <c:pt idx="3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money. Say plainly that we are not asserting a loss: the number is the amount at risk until documents are 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is a control that did not operate. The three largest are related-party payments, after-hours journals and duplicate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appendix B of the report. Every number here is on the evidence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finding the board will react to. Keep the language factual: state the vendor master facts, then say what corroboration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concealment pattern the whistle-blower described. The control point is that nobody was supervising and nothing forced a second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duplicate payments are the quickest win: real cash, recoverable this month, with the evidence already assembled.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 findings in themselves; they are the environment that let the seven patterns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board member quotes one number, make sure they say which one. This is the slide that protects the report from being misread.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action has a test that proves it worked, which is on the remediation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'how do I know it is right'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decision, not on the tool. Ask for the mandate to run the monthly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Forensic investigation - findings for the Audit Committee</a:t>
            </a:r>
          </a:p>
          <a:p>
            <a:r>
              <a:rPr sz="1200">
                <a:solidFill>
                  <a:srgbClr val="595959"/>
                </a:solidFill>
              </a:rPr>
              <a:t>Mhondoro Manufacturing (Pvt) Ltd  |  1 January 2024 to 30 September 2025  |  Maxhub Pvt Ltd  |  08 October 2025  |  Confidential and legally privileged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What we found</a:t>
            </a:r>
          </a:p>
          <a:p>
            <a:r>
              <a:rPr sz="1200">
                <a:solidFill>
                  <a:srgbClr val="595959"/>
                </a:solidFill>
              </a:rPr>
              <a:t>Twelve tests over 100% of the ledger - no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EXCEPTIONS</a:t>
            </a:r>
          </a:p>
          <a:p>
            <a:r>
              <a:rPr sz="2600" b="1">
                <a:solidFill>
                  <a:srgbClr val="0B2E4F"/>
                </a:solidFill>
              </a:rPr>
              <a:t>171</a:t>
            </a:r>
          </a:p>
          <a:p>
            <a:r>
              <a:rPr sz="1000">
                <a:solidFill>
                  <a:srgbClr val="595959"/>
                </a:solidFill>
              </a:rPr>
              <a:t>journal lines flagged by twelve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6624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TOTAL VALUE</a:t>
            </a:r>
          </a:p>
          <a:p>
            <a:r>
              <a:rPr sz="2600" b="1">
                <a:solidFill>
                  <a:srgbClr val="0B2E4F"/>
                </a:solidFill>
              </a:rPr>
              <a:t>$1,945,537</a:t>
            </a:r>
          </a:p>
          <a:p>
            <a:r>
              <a:rPr sz="1000">
                <a:solidFill>
                  <a:srgbClr val="595959"/>
                </a:solidFill>
              </a:rPr>
              <a:t>of transactions requiring explanation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6048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AMOUNT AT RISK</a:t>
            </a:r>
          </a:p>
          <a:p>
            <a:r>
              <a:rPr sz="2600" b="1">
                <a:solidFill>
                  <a:srgbClr val="0B2E4F"/>
                </a:solidFill>
              </a:rPr>
              <a:t>$1,761,525</a:t>
            </a:r>
          </a:p>
          <a:p>
            <a:r>
              <a:rPr sz="1000">
                <a:solidFill>
                  <a:srgbClr val="595959"/>
                </a:solidFill>
              </a:rPr>
              <a:t>if the exceptions are not explained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5472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RECOVERABLE NOW</a:t>
            </a:r>
          </a:p>
          <a:p>
            <a:r>
              <a:rPr sz="2600" b="1">
                <a:solidFill>
                  <a:srgbClr val="0B2E4F"/>
                </a:solidFill>
              </a:rPr>
              <a:t>$184,012</a:t>
            </a:r>
          </a:p>
          <a:p>
            <a:r>
              <a:rPr sz="1000">
                <a:solidFill>
                  <a:srgbClr val="595959"/>
                </a:solidFill>
              </a:rPr>
              <a:t>duplicate payments - ask this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9454896" y="1463040"/>
            <a:ext cx="2048255" cy="1737360"/>
          </a:xfrm>
          <a:prstGeom prst="rect">
            <a:avLst/>
          </a:prstGeom>
          <a:solidFill>
            <a:srgbClr val="EAF1F6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95959"/>
                </a:solidFill>
              </a:rPr>
              <a:t>QUANTIFIED LOSS</a:t>
            </a:r>
          </a:p>
          <a:p>
            <a:r>
              <a:rPr sz="2600" b="1">
                <a:solidFill>
                  <a:srgbClr val="0B2E4F"/>
                </a:solidFill>
              </a:rPr>
              <a:t>Nil</a:t>
            </a:r>
          </a:p>
          <a:p>
            <a:r>
              <a:rPr sz="1000">
                <a:solidFill>
                  <a:srgbClr val="595959"/>
                </a:solidFill>
              </a:rPr>
              <a:t>no document corroboration performed yet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$1,945,537 of exceptions across seven patterns</a:t>
            </a:r>
          </a:p>
          <a:p>
            <a:r>
              <a:rPr sz="1200">
                <a:solidFill>
                  <a:srgbClr val="595959"/>
                </a:solidFill>
              </a:rPr>
              <a:t>Total value of flagged journal lines by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The seven patterns, in descending order of value</a:t>
            </a:r>
          </a:p>
          <a:p>
            <a:r>
              <a:rPr sz="1200">
                <a:solidFill>
                  <a:srgbClr val="595959"/>
                </a:solidFill>
              </a:rPr>
              <a:t>Every line is traceable to a journal ID, an invoice reference, a date and a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007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Scheme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Lines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 value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Amount at risk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Related-party / ghost vendors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$445,568.39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$445,568.39</a:t>
                      </a:r>
                    </a:p>
                  </a:txBody>
                  <a:tcPr/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Weekend and after-hours journals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$406,300.00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$406,300.00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Duplicate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$368,023.48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$184,011.74</a:t>
                      </a:r>
                    </a:p>
                  </a:txBody>
                  <a:tcPr/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Segregation of duties - user / account matrix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$279,600.00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$279,600.00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Split purchases (structuring)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$223,924.68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$223,924.68</a:t>
                      </a:r>
                    </a:p>
                  </a:txBody>
                  <a:tcPr/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Approval-threshold avoidance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$207,720.00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$207,720.00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Unreversed accruals and prepayment amortisation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$14,400.00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$14,400.00</a:t>
                      </a:r>
                    </a:p>
                  </a:txBody>
                  <a:tcPr/>
                </a:tc>
              </a:tr>
              <a:tr h="3007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2E4F"/>
                          </a:solidFill>
                        </a:rPr>
                        <a:t>**Total**</a:t>
                      </a:r>
                    </a:p>
                  </a:txBody>
                  <a:tcPr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2E4F"/>
                          </a:solidFill>
                        </a:rPr>
                        <a:t>**171**</a:t>
                      </a:r>
                    </a:p>
                  </a:txBody>
                  <a:tcPr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2E4F"/>
                          </a:solidFill>
                        </a:rPr>
                        <a:t>**$1,945,536.55**</a:t>
                      </a:r>
                    </a:p>
                  </a:txBody>
                  <a:tcPr>
                    <a:solidFill>
                      <a:srgbClr val="E4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B2E4F"/>
                          </a:solidFill>
                        </a:rPr>
                        <a:t>**$1,761,524.81**</a:t>
                      </a:r>
                    </a:p>
                  </a:txBody>
                  <a:tcPr>
                    <a:solidFill>
                      <a:srgbClr val="E4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Finding 1 - suppliers connected to employees</a:t>
            </a:r>
          </a:p>
          <a:p>
            <a:r>
              <a:rPr sz="1200">
                <a:solidFill>
                  <a:srgbClr val="595959"/>
                </a:solidFill>
              </a:rPr>
              <a:t>$445,568.39 bypassed approval; $2,773,799.20 paid in total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Four suppliers are identified in the vendor master as employee-linked; all created in July and August 2024, none with a tax clearance number, all on seven-day terms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Payments to them total $2,773,799.20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$445,568.39 of that was initiated outside the accounts-payable payment run by one user, with no approver recorded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The bank details on the vendor master were not verified against the employee master at onboarding</a:t>
            </a:r>
          </a:p>
          <a:p>
            <a:pPr lvl="1">
              <a:spcAft>
                <a:spcPts val="900"/>
              </a:spcAft>
            </a:pPr>
            <a:r>
              <a:rPr sz="1300">
                <a:solidFill>
                  <a:srgbClr val="595959"/>
                </a:solidFill>
              </a:rPr>
              <a:t>–  We are not alleging wrongdoing. We are saying the payments cannot be corroborated from what the company gave 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Finding 2 - journal entries used to conceal transactions</a:t>
            </a:r>
          </a:p>
          <a:p>
            <a:r>
              <a:rPr sz="1200">
                <a:solidFill>
                  <a:srgbClr val="595959"/>
                </a:solidFill>
              </a:rPr>
              <a:t>$406,300.00 posted outside business hours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21 manual journals entered on Saturdays between 02:00 and 04:41 and between 22:00 and 23:31, by a single user, with no approver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Each debits an expense and credits the suspense account - the expense is recognised while the liability sits in an unallocated clearing account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The suspense account holds $51,058.87 and has never been cleared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A further $279,600.00 of revenue credit notes was posted by the accounts-payable clerk, outside that 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Finding 3 - invoices paid twice, and thresholds avoided</a:t>
            </a:r>
          </a:p>
          <a:p>
            <a:r>
              <a:rPr sz="1200">
                <a:solidFill>
                  <a:srgbClr val="595959"/>
                </a:solidFill>
              </a:rPr>
              <a:t>$368,023.48 paid twice; $431,644.68 structured around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21 supplier invoices were paid twice - same vendor, same amount to the cent, same invoice reference, four to twelve days apart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$184,011.74 is recoverable: ask the suppliers for credit notes this month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42 purchases were split into two invoices so that each sat below the $10,000 approval limit; the pair total is $223,924.68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30 payments of exactly $4,985 to $9,900 sit just under the purchase-order and approval limits, with no purchase order on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The exception rate is a control failure, not bad luck</a:t>
            </a:r>
          </a:p>
          <a:p>
            <a:r>
              <a:rPr sz="1200">
                <a:solidFill>
                  <a:srgbClr val="595959"/>
                </a:solidFill>
              </a:rPr>
              <a:t>Control exceptions in the sub-ledgers provided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What it is worth - and what it is not</a:t>
            </a:r>
          </a:p>
          <a:p>
            <a:r>
              <a:rPr sz="1200">
                <a:solidFill>
                  <a:srgbClr val="595959"/>
                </a:solidFill>
              </a:rPr>
              <a:t>Three different numbers, stated separately every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Amount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What would change it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Total value of exceptions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$1,945,536.55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Nothing - this is the arithmetic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Amount at risk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$1,761,524.81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Documents that explain the transactions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Recoverable now (duplicates)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$184,011.74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Supplier credit notes or repayment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Quantified loss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Nil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Document-level corroboration - the next phase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Related-party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$2,773,799.20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Ownership, contracts and deliverable evidence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Five things to do in the next 30 days</a:t>
            </a:r>
          </a:p>
          <a:p>
            <a:r>
              <a:rPr sz="1200">
                <a:solidFill>
                  <a:srgbClr val="595959"/>
                </a:solidFill>
              </a:rPr>
              <a:t>Full plan with costs and success tests in Remediation_Plan.xlsx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Due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Recover $184,012 of duplicate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Financial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10 working days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Freeze the four employee-linked vendor accounts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CFO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5 working days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Purchase order for every purchase; remove the value-based 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Procurement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 days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Manual journals in business hours only, with a second approver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Financial Controller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 days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Remove revenue-posting rights from accounts-payable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Financial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B2E4F"/>
                          </a:solidFill>
                        </a:rPr>
                        <a:t>30 days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How we know these numbers are right</a:t>
            </a:r>
          </a:p>
          <a:p>
            <a:r>
              <a:rPr sz="1200">
                <a:solidFill>
                  <a:srgbClr val="595959"/>
                </a:solidFill>
              </a:rPr>
              <a:t>Nothing is reported until it reconciles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The model reconciles to the client's own control totals: debits = credits = $122,878,886.54; every journal balances; no orphan keys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The GL-derived trial balance agrees to the client's trial balance on all 64 accounts used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The balance sheet checks to zero and the cash flow ties to the movement in the cash accounts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64 control checks tie; none requires investigation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An independent Maxhub partner who did not build the work re-performed a calculation on every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E4F"/>
                </a:solidFill>
              </a:rPr>
              <a:t>What we recommend next</a:t>
            </a:r>
          </a:p>
          <a:p>
            <a:r>
              <a:rPr sz="1200">
                <a:solidFill>
                  <a:srgbClr val="595959"/>
                </a:solidFill>
              </a:rPr>
              <a:t>The investigation becomes a monitoring retainer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11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Put the twelve tests on a monthly schedule running on your own data - the next $1,945,537 should be found in month one, not in year two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Commission the document-level corroboration phase so amount at risk becomes quantified loss where it is real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Complete the control remediation: vendor onboarding, purchase orders, approval limits, access rights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B2E4F"/>
                </a:solidFill>
              </a:rPr>
              <a:t>▪  Report the exception rate to this Committee quarterly until it is falling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