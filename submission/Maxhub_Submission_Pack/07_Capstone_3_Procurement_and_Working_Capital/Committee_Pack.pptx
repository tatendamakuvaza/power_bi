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Auditax Chartered Acco</c:v>
                </c:pt>
                <c:pt idx="1">
                  <c:v>AdvertStar Media</c:v>
                </c:pt>
                <c:pt idx="2">
                  <c:v>PackRite Packaging Sol</c:v>
                </c:pt>
                <c:pt idx="3">
                  <c:v>InsureCorp Brokers</c:v>
                </c:pt>
                <c:pt idx="4">
                  <c:v>Steel Supplies Zimbabw</c:v>
                </c:pt>
                <c:pt idx="5">
                  <c:v>TrainCo Skills Institu</c:v>
                </c:pt>
                <c:pt idx="6">
                  <c:v>MediCareX Health Servi</c:v>
                </c:pt>
                <c:pt idx="7">
                  <c:v>FuelMax Petroleum</c:v>
                </c:pt>
                <c:pt idx="8">
                  <c:v>MainTek Engineering Se</c:v>
                </c:pt>
                <c:pt idx="9">
                  <c:v>CleanServ Facilities</c:v>
                </c:pt>
                <c:pt idx="10">
                  <c:v>Logistics Windward Fre</c:v>
                </c:pt>
                <c:pt idx="11">
                  <c:v>SoftPro Licensing Afri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1614951.7499999998</c:v>
                </c:pt>
                <c:pt idx="1">
                  <c:v>1555275.2399999998</c:v>
                </c:pt>
                <c:pt idx="2">
                  <c:v>1465139.5099999986</c:v>
                </c:pt>
                <c:pt idx="3">
                  <c:v>1444406.0999999999</c:v>
                </c:pt>
                <c:pt idx="4">
                  <c:v>1430447.6099999996</c:v>
                </c:pt>
                <c:pt idx="5">
                  <c:v>1374535.8599999999</c:v>
                </c:pt>
                <c:pt idx="6">
                  <c:v>1342316.35</c:v>
                </c:pt>
                <c:pt idx="7">
                  <c:v>1338428.6700000004</c:v>
                </c:pt>
                <c:pt idx="8">
                  <c:v>1282653.050000001</c:v>
                </c:pt>
                <c:pt idx="9">
                  <c:v>1272605.31</c:v>
                </c:pt>
                <c:pt idx="10">
                  <c:v>1265715.3900000001</c:v>
                </c:pt>
                <c:pt idx="11">
                  <c:v>1214119.6099999996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Invoices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Matched</c:v>
                </c:pt>
                <c:pt idx="1">
                  <c:v>No purchase order</c:v>
                </c:pt>
                <c:pt idx="2">
                  <c:v>PO but no GRN</c:v>
                </c:pt>
                <c:pt idx="3">
                  <c:v>Suspected duplicate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352</c:v>
                </c:pt>
                <c:pt idx="1">
                  <c:v>109</c:v>
                </c:pt>
                <c:pt idx="2">
                  <c:v>59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Outstanding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Current</c:v>
                </c:pt>
                <c:pt idx="1">
                  <c:v>1-30 days</c:v>
                </c:pt>
                <c:pt idx="2">
                  <c:v>31-60 days</c:v>
                </c:pt>
                <c:pt idx="3">
                  <c:v>61-90 days</c:v>
                </c:pt>
                <c:pt idx="4">
                  <c:v>91-180 days</c:v>
                </c:pt>
                <c:pt idx="5">
                  <c:v>Over 180 days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656714.58</c:v>
                </c:pt>
                <c:pt idx="1">
                  <c:v>769844.1799999999</c:v>
                </c:pt>
                <c:pt idx="2">
                  <c:v>917842.91</c:v>
                </c:pt>
                <c:pt idx="3">
                  <c:v>1023873.3299999998</c:v>
                </c:pt>
                <c:pt idx="4">
                  <c:v>4523334.97</c:v>
                </c:pt>
                <c:pt idx="5">
                  <c:v>1889558.3699999999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0-30 days</c:v>
                </c:pt>
                <c:pt idx="1">
                  <c:v>31-60 days</c:v>
                </c:pt>
                <c:pt idx="2">
                  <c:v>61-90 days</c:v>
                </c:pt>
                <c:pt idx="3">
                  <c:v>Over 90 days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1254029.8900000004</c:v>
                </c:pt>
                <c:pt idx="1">
                  <c:v>233872.69999999995</c:v>
                </c:pt>
                <c:pt idx="2">
                  <c:v>0</c:v>
                </c:pt>
                <c:pt idx="3">
                  <c:v>396368.57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slide, five numbers, no tool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 concentration is not automatically bad, but it means no vendor is managed strategically and a new vendor is easy to hide.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Categories overlap; the total exception count is the number on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collections list is ranked by score, not size. Disputed balances are half-weighted because a disputed invoice will not pay this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our cash real? Until these are matched, we cannot say.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reading: the cycle is short because both sides are being tolerant. Fix collections first, then normalise supplier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rubric deducts marks for a finding with no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limitations. A committee that trusts the limitations trusts the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Data analytics for the Audit Committee</a:t>
            </a:r>
          </a:p>
          <a:p>
            <a:r>
              <a:rPr sz="1200">
                <a:solidFill>
                  <a:srgbClr val="595959"/>
                </a:solidFill>
              </a:rPr>
              <a:t>Mhondoro Manufacturing (Pvt) Ltd  |  1 January 2024 to 30 September 2025  |  Maxhub Pvt Ltd  |  100% population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What we tested and what we found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048255" cy="1737360"/>
          </a:xfrm>
          <a:prstGeom prst="rect">
            <a:avLst/>
          </a:prstGeom>
          <a:solidFill>
            <a:srgbClr val="EAF1F6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95959"/>
                </a:solidFill>
              </a:rPr>
              <a:t>POPULATION TESTED</a:t>
            </a:r>
          </a:p>
          <a:p>
            <a:r>
              <a:rPr sz="2600" b="1">
                <a:solidFill>
                  <a:srgbClr val="0B2E4F"/>
                </a:solidFill>
              </a:rPr>
              <a:t>100%</a:t>
            </a:r>
          </a:p>
          <a:p>
            <a:r>
              <a:rPr sz="1000">
                <a:solidFill>
                  <a:srgbClr val="595959"/>
                </a:solidFill>
              </a:rPr>
              <a:t>13,929 ledger lines - no sampling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6624" y="1463040"/>
            <a:ext cx="2048255" cy="1737360"/>
          </a:xfrm>
          <a:prstGeom prst="rect">
            <a:avLst/>
          </a:prstGeom>
          <a:solidFill>
            <a:srgbClr val="EAF1F6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95959"/>
                </a:solidFill>
              </a:rPr>
              <a:t>SUPPLIER SPEND</a:t>
            </a:r>
          </a:p>
          <a:p>
            <a:r>
              <a:rPr sz="2600" b="1">
                <a:solidFill>
                  <a:srgbClr val="0B2E4F"/>
                </a:solidFill>
              </a:rPr>
              <a:t>$30,505,968</a:t>
            </a:r>
          </a:p>
          <a:p>
            <a:r>
              <a:rPr sz="1000">
                <a:solidFill>
                  <a:srgbClr val="595959"/>
                </a:solidFill>
              </a:rPr>
              <a:t>across 26 vendors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6048" y="1463040"/>
            <a:ext cx="2048255" cy="1737360"/>
          </a:xfrm>
          <a:prstGeom prst="rect">
            <a:avLst/>
          </a:prstGeom>
          <a:solidFill>
            <a:srgbClr val="EAF1F6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95959"/>
                </a:solidFill>
              </a:rPr>
              <a:t>THREE-WAY MATCH FAILURES</a:t>
            </a:r>
          </a:p>
          <a:p>
            <a:r>
              <a:rPr sz="2600" b="1">
                <a:solidFill>
                  <a:srgbClr val="0B2E4F"/>
                </a:solidFill>
              </a:rPr>
              <a:t>168</a:t>
            </a:r>
          </a:p>
          <a:p>
            <a:r>
              <a:rPr sz="1000">
                <a:solidFill>
                  <a:srgbClr val="595959"/>
                </a:solidFill>
              </a:rPr>
              <a:t>of 520 invoices tested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5472" y="1463040"/>
            <a:ext cx="2048255" cy="1737360"/>
          </a:xfrm>
          <a:prstGeom prst="rect">
            <a:avLst/>
          </a:prstGeom>
          <a:solidFill>
            <a:srgbClr val="EAF1F6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95959"/>
                </a:solidFill>
              </a:rPr>
              <a:t>UNRECONCILED CASH</a:t>
            </a:r>
          </a:p>
          <a:p>
            <a:r>
              <a:rPr sz="2600" b="1">
                <a:solidFill>
                  <a:srgbClr val="0B2E4F"/>
                </a:solidFill>
              </a:rPr>
              <a:t>$1,884,271</a:t>
            </a:r>
          </a:p>
          <a:p>
            <a:r>
              <a:rPr sz="1000">
                <a:solidFill>
                  <a:srgbClr val="595959"/>
                </a:solidFill>
              </a:rPr>
              <a:t>129 bank items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9454896" y="1463040"/>
            <a:ext cx="2048255" cy="1737360"/>
          </a:xfrm>
          <a:prstGeom prst="rect">
            <a:avLst/>
          </a:prstGeom>
          <a:solidFill>
            <a:srgbClr val="EAF1F6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95959"/>
                </a:solidFill>
              </a:rPr>
              <a:t>DSO</a:t>
            </a:r>
          </a:p>
          <a:p>
            <a:r>
              <a:rPr sz="2600" b="1">
                <a:solidFill>
                  <a:srgbClr val="0B2E4F"/>
                </a:solidFill>
              </a:rPr>
              <a:t>98 days</a:t>
            </a:r>
          </a:p>
          <a:p>
            <a:r>
              <a:rPr sz="1000">
                <a:solidFill>
                  <a:srgbClr val="595959"/>
                </a:solidFill>
              </a:rPr>
              <a:t>on $3,790,173.74 of receivables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Supplier spend is flat: 19 vendors reach 80%</a:t>
            </a:r>
          </a:p>
          <a:p>
            <a:r>
              <a:rPr sz="1200">
                <a:solidFill>
                  <a:srgbClr val="595959"/>
                </a:solidFill>
              </a:rPr>
              <a:t>Top vendor 5.3%; top five 24.6%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371600"/>
          <a:ext cx="110642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168 of 520 invoices fail the three-way match</a:t>
            </a:r>
          </a:p>
          <a:p>
            <a:r>
              <a:rPr sz="1200">
                <a:solidFill>
                  <a:srgbClr val="595959"/>
                </a:solidFill>
              </a:rPr>
              <a:t>Are we paying for things we did not order or receive?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371600"/>
          <a:ext cx="110642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Receivables: $9,781,168 outstanding, DSO 98 days</a:t>
            </a:r>
          </a:p>
          <a:p>
            <a:r>
              <a:rPr sz="1200">
                <a:solidFill>
                  <a:srgbClr val="595959"/>
                </a:solidFill>
              </a:rPr>
              <a:t>11 accounts disputed - resolve the dispute before chasing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371600"/>
          <a:ext cx="110642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Cash: $1,884,271 unreconciled, oldest 210 days</a:t>
            </a:r>
          </a:p>
          <a:p>
            <a:r>
              <a:rPr sz="1200">
                <a:solidFill>
                  <a:srgbClr val="595959"/>
                </a:solidFill>
              </a:rPr>
              <a:t>27 items are over 90 days 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371600"/>
          <a:ext cx="110642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Working capital looks efficient - and is not</a:t>
            </a:r>
          </a:p>
          <a:p>
            <a:r>
              <a:rPr sz="1200">
                <a:solidFill>
                  <a:srgbClr val="595959"/>
                </a:solidFill>
              </a:rPr>
              <a:t>Each ratio shows its formula and date basis on the report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Measure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Reading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DSO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Customers pay in about three months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DIO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46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Stock turns about eight times a year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DPO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Suppliers are paid in about four months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Cash conversion cycle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Three weeks of cash tied up - only because suppliers are stretched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If collections improve to 60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$1,473,018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Cash released - this is the prize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Six recommendations, each with an owner</a:t>
            </a:r>
          </a:p>
          <a:p>
            <a:r>
              <a:rPr sz="1200">
                <a:solidFill>
                  <a:srgbClr val="595959"/>
                </a:solidFill>
              </a:rPr>
              <a:t>Every finding has a recommendation; every recommendation has an owner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0305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Recommendation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Due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30305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Mandate a purchase order for every 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Procurement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30 days</a:t>
                      </a:r>
                    </a:p>
                  </a:txBody>
                  <a:tcPr/>
                </a:tc>
              </a:tr>
              <a:tr h="30305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Block payment where a goods-received note is missing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IT / Procurement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30 days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30305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Verify the four employee-linked vendors before the next 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CFO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5 working days</a:t>
                      </a:r>
                    </a:p>
                  </a:txBody>
                  <a:tcPr/>
                </a:tc>
              </a:tr>
              <a:tr h="30305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Clear bank items over 90 days and reconcile monthly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Financial Accountant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2 weeks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30305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Work the collections priority list weekly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Credit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Weekly</a:t>
                      </a:r>
                    </a:p>
                  </a:txBody>
                  <a:tcPr/>
                </a:tc>
              </a:tr>
              <a:tr h="3030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Enforce a receipt on every expense claim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Financial Controller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30 days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How we know it is right - and what we could not test</a:t>
            </a:r>
          </a:p>
          <a:p>
            <a:r>
              <a:rPr sz="1200">
                <a:solidFill>
                  <a:srgbClr val="595959"/>
                </a:solidFill>
              </a:rPr>
              <a:t>Reconciled, re-performed, and honest about the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Every figure reconciles to the trial balance; debits = credits = $122,878,886.54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The GL-derived trial balance agrees to the client's on all 64 accounts used; the balance sheet checks to zero and the cash flow ties to the cash accounts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A partner who did not build the work re-performed a number on every page</a:t>
            </a:r>
          </a:p>
          <a:p>
            <a:pPr lvl="1">
              <a:spcAft>
                <a:spcPts val="900"/>
              </a:spcAft>
            </a:pPr>
            <a:r>
              <a:rPr sz="1300">
                <a:solidFill>
                  <a:srgbClr val="595959"/>
                </a:solidFill>
              </a:rPr>
              <a:t>–  Limitation: the creditor extract is a sample. Three-way-match statistics are stated on that basis and a complete extract has been requested</a:t>
            </a:r>
          </a:p>
          <a:p>
            <a:pPr lvl="1">
              <a:spcAft>
                <a:spcPts val="900"/>
              </a:spcAft>
            </a:pPr>
            <a:r>
              <a:rPr sz="1300">
                <a:solidFill>
                  <a:srgbClr val="595959"/>
                </a:solidFill>
              </a:rPr>
              <a:t>–  Limitation: no goods-received notes or contracts were provided, so we report exceptions, not losses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